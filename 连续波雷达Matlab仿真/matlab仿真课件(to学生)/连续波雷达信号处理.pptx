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07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1" r:id="rId14"/>
    <p:sldId id="402" r:id="rId15"/>
    <p:sldId id="400" r:id="rId16"/>
    <p:sldId id="404" r:id="rId17"/>
    <p:sldId id="405" r:id="rId18"/>
    <p:sldId id="40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98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6.wmf"/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13_0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communication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1" y="1196976"/>
            <a:ext cx="7681383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5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71133" y="4437064"/>
            <a:ext cx="8534400" cy="792137"/>
          </a:xfrm>
        </p:spPr>
        <p:txBody>
          <a:bodyPr/>
          <a:lstStyle>
            <a:lvl1pPr marL="0" indent="0" algn="ctr">
              <a:buFontTx/>
              <a:buNone/>
              <a:defRPr sz="3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noProof="0" dirty="0"/>
              <a:t>第五章  雷达基本原理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007533" y="2378076"/>
            <a:ext cx="10272184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defRPr sz="5400">
                <a:solidFill>
                  <a:srgbClr val="AA2A02"/>
                </a:solidFill>
              </a:defRPr>
            </a:lvl1pPr>
          </a:lstStyle>
          <a:p>
            <a:pPr lvl="0"/>
            <a:r>
              <a:rPr lang="zh-CN" altLang="en-US" noProof="0" dirty="0"/>
              <a:t>微波系统设计</a:t>
            </a:r>
          </a:p>
        </p:txBody>
      </p:sp>
    </p:spTree>
    <p:extLst>
      <p:ext uri="{BB962C8B-B14F-4D97-AF65-F5344CB8AC3E}">
        <p14:creationId xmlns:p14="http://schemas.microsoft.com/office/powerpoint/2010/main" val="402778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850901"/>
          </a:xfrm>
          <a:noFill/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矩形 3"/>
          <p:cNvSpPr/>
          <p:nvPr userDrawn="1"/>
        </p:nvSpPr>
        <p:spPr bwMode="auto">
          <a:xfrm>
            <a:off x="0" y="764308"/>
            <a:ext cx="12182400" cy="72008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247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789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908050"/>
            <a:ext cx="5384800" cy="5218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08050"/>
            <a:ext cx="5384800" cy="5218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7965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07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0591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0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9426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5384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8375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531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531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70730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850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908050"/>
            <a:ext cx="10972800" cy="521811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251731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850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908050"/>
            <a:ext cx="5384800" cy="5218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908051"/>
            <a:ext cx="5384800" cy="2532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592513"/>
            <a:ext cx="5384800" cy="2533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7311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850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908050"/>
            <a:ext cx="5384800" cy="5218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08050"/>
            <a:ext cx="5384800" cy="5218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78681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850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908050"/>
            <a:ext cx="5384800" cy="5218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908051"/>
            <a:ext cx="5384800" cy="2532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592513"/>
            <a:ext cx="5384800" cy="2533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37757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0" y="-26988"/>
            <a:ext cx="12192000" cy="850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908051"/>
            <a:ext cx="5384800" cy="2532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908051"/>
            <a:ext cx="5384800" cy="2532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592513"/>
            <a:ext cx="5384800" cy="2533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592513"/>
            <a:ext cx="5384800" cy="2533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6472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531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3363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850901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08050"/>
            <a:ext cx="10972800" cy="521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Picture 23" descr="image002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2" t="7297" r="44424" b="14594"/>
          <a:stretch>
            <a:fillRect/>
          </a:stretch>
        </p:blipFill>
        <p:spPr bwMode="auto">
          <a:xfrm>
            <a:off x="11088555" y="6165304"/>
            <a:ext cx="1061427" cy="648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25"/>
          <p:cNvGraphicFramePr>
            <a:graphicFrameLocks noChangeAspect="1"/>
          </p:cNvGraphicFramePr>
          <p:nvPr userDrawn="1">
            <p:extLst/>
          </p:nvPr>
        </p:nvGraphicFramePr>
        <p:xfrm>
          <a:off x="47329" y="6120680"/>
          <a:ext cx="978713" cy="692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Image" r:id="rId21" imgW="2857143" imgH="2695238" progId="Photoshop.Image.10">
                  <p:embed/>
                </p:oleObj>
              </mc:Choice>
              <mc:Fallback>
                <p:oleObj name="Image" r:id="rId21" imgW="2857143" imgH="2695238" progId="Photoshop.Image.10">
                  <p:embed/>
                  <p:pic>
                    <p:nvPicPr>
                      <p:cNvPr id="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9" y="6120680"/>
                        <a:ext cx="978713" cy="692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1007435" y="6444044"/>
            <a:ext cx="451250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微波</a:t>
            </a:r>
            <a:r>
              <a:rPr lang="en-US" altLang="zh-CN" sz="2400" b="1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2400" b="1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毫米波技术中心</a:t>
            </a:r>
          </a:p>
        </p:txBody>
      </p:sp>
    </p:spTree>
    <p:extLst>
      <p:ext uri="{BB962C8B-B14F-4D97-AF65-F5344CB8AC3E}">
        <p14:creationId xmlns:p14="http://schemas.microsoft.com/office/powerpoint/2010/main" val="91859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800">
          <a:solidFill>
            <a:schemeClr val="accent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accent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accent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accent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4.w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4.w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3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3FD71D-8973-473B-A2B8-3FD056A11D14}" type="slidenum"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8D4CAF-5EC3-448B-BDFC-61A92075046E}"/>
              </a:ext>
            </a:extLst>
          </p:cNvPr>
          <p:cNvSpPr txBox="1"/>
          <p:nvPr/>
        </p:nvSpPr>
        <p:spPr>
          <a:xfrm>
            <a:off x="2602992" y="2383536"/>
            <a:ext cx="8046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连续波雷达信号处理基础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0D1C9A-2DD1-4C6A-8597-349BEACCCA25}"/>
              </a:ext>
            </a:extLst>
          </p:cNvPr>
          <p:cNvSpPr txBox="1"/>
          <p:nvPr/>
        </p:nvSpPr>
        <p:spPr>
          <a:xfrm>
            <a:off x="9927336" y="5354447"/>
            <a:ext cx="1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姚晨</a:t>
            </a:r>
          </a:p>
        </p:txBody>
      </p:sp>
    </p:spTree>
    <p:extLst>
      <p:ext uri="{BB962C8B-B14F-4D97-AF65-F5344CB8AC3E}">
        <p14:creationId xmlns:p14="http://schemas.microsoft.com/office/powerpoint/2010/main" val="280520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0" y="908051"/>
            <a:ext cx="9144000" cy="52181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点频连续波（</a:t>
            </a:r>
            <a:r>
              <a:rPr lang="en-US" altLang="zh-CN" sz="2400" b="1" dirty="0">
                <a:solidFill>
                  <a:schemeClr val="tx1"/>
                </a:solidFill>
              </a:rPr>
              <a:t>CW</a:t>
            </a:r>
            <a:r>
              <a:rPr lang="zh-CN" altLang="en-US" sz="2400" b="1" dirty="0">
                <a:solidFill>
                  <a:schemeClr val="tx1"/>
                </a:solidFill>
              </a:rPr>
              <a:t>）体制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</a:rPr>
              <a:t>特点</a:t>
            </a:r>
            <a:r>
              <a:rPr lang="en-US" altLang="zh-CN" sz="2400" b="1" dirty="0">
                <a:solidFill>
                  <a:schemeClr val="tx1"/>
                </a:solidFill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</a:rPr>
              <a:t>单频、测速、</a:t>
            </a:r>
            <a:r>
              <a:rPr lang="zh-CN" altLang="en-US" sz="2400" b="1" dirty="0"/>
              <a:t>收发隔离</a:t>
            </a:r>
            <a:endParaRPr lang="en-US" altLang="zh-CN" sz="2400" b="1" dirty="0"/>
          </a:p>
          <a:p>
            <a:pPr marL="0" indent="0">
              <a:buNone/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调频连续波（</a:t>
            </a:r>
            <a:r>
              <a:rPr lang="en-US" altLang="zh-CN" sz="2400" b="1" dirty="0">
                <a:solidFill>
                  <a:schemeClr val="tx1"/>
                </a:solidFill>
              </a:rPr>
              <a:t>FMCW</a:t>
            </a:r>
            <a:r>
              <a:rPr lang="zh-CN" altLang="en-US" sz="2400" b="1" dirty="0">
                <a:solidFill>
                  <a:schemeClr val="tx1"/>
                </a:solidFill>
              </a:rPr>
              <a:t>）体制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</a:rPr>
              <a:t>特点</a:t>
            </a:r>
            <a:r>
              <a:rPr lang="en-US" altLang="zh-CN" sz="2400" b="1" dirty="0">
                <a:solidFill>
                  <a:schemeClr val="tx1"/>
                </a:solidFill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</a:rPr>
              <a:t>宽带、测速、测距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2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33B5437-8304-4B01-8B1F-D37947D369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527311"/>
              </p:ext>
            </p:extLst>
          </p:nvPr>
        </p:nvGraphicFramePr>
        <p:xfrm>
          <a:off x="1854263" y="1934654"/>
          <a:ext cx="38290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3" imgW="1523880" imgH="253800" progId="Equation.DSMT4">
                  <p:embed/>
                </p:oleObj>
              </mc:Choice>
              <mc:Fallback>
                <p:oleObj name="Equation" r:id="rId3" imgW="1523880" imgH="2538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CEF2FC05-8CBC-466E-8C65-232305A222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63" y="1934654"/>
                        <a:ext cx="38290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209186B0-36A2-40F9-B940-527D0F6A96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818140"/>
              </p:ext>
            </p:extLst>
          </p:nvPr>
        </p:nvGraphicFramePr>
        <p:xfrm>
          <a:off x="1854263" y="4214497"/>
          <a:ext cx="5040313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5" imgW="2006280" imgH="431640" progId="Equation.DSMT4">
                  <p:embed/>
                </p:oleObj>
              </mc:Choice>
              <mc:Fallback>
                <p:oleObj name="Equation" r:id="rId5" imgW="2006280" imgH="43164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AB395AB6-F566-4BD8-B63D-BC030E3AE0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63" y="4214497"/>
                        <a:ext cx="5040313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272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3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点频连续波体制信号处理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数学模型（复信号分析）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:   </a:t>
            </a:r>
            <a:r>
              <a:rPr lang="zh-CN" altLang="en-US" dirty="0">
                <a:solidFill>
                  <a:schemeClr val="tx1"/>
                </a:solidFill>
              </a:rPr>
              <a:t>工作频点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：初始相位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应用场景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>
                <a:solidFill>
                  <a:schemeClr val="tx1"/>
                </a:solidFill>
              </a:rPr>
              <a:t>公路测速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C283E3F4-23CE-42FA-85A2-C8873D7D7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274667"/>
              </p:ext>
            </p:extLst>
          </p:nvPr>
        </p:nvGraphicFramePr>
        <p:xfrm>
          <a:off x="1445831" y="2562542"/>
          <a:ext cx="38290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3" imgW="1523880" imgH="253800" progId="Equation.DSMT4">
                  <p:embed/>
                </p:oleObj>
              </mc:Choice>
              <mc:Fallback>
                <p:oleObj name="Equation" r:id="rId3" imgW="1523880" imgH="253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433B5437-8304-4B01-8B1F-D37947D369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831" y="2562542"/>
                        <a:ext cx="38290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35EE93A-46D6-47EE-9510-7C453F59A817}"/>
                  </a:ext>
                </a:extLst>
              </p:cNvPr>
              <p:cNvSpPr/>
              <p:nvPr/>
            </p:nvSpPr>
            <p:spPr>
              <a:xfrm>
                <a:off x="919795" y="3517106"/>
                <a:ext cx="4403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35EE93A-46D6-47EE-9510-7C453F59A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95" y="3517106"/>
                <a:ext cx="44031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B6FF838-E61D-456A-A54E-4D5E8FB923FD}"/>
                  </a:ext>
                </a:extLst>
              </p:cNvPr>
              <p:cNvSpPr/>
              <p:nvPr/>
            </p:nvSpPr>
            <p:spPr>
              <a:xfrm>
                <a:off x="937748" y="4067294"/>
                <a:ext cx="4044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B6FF838-E61D-456A-A54E-4D5E8FB923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48" y="4067294"/>
                <a:ext cx="404406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87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4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点频连续波体制信号处理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Q</a:t>
            </a:r>
            <a:r>
              <a:rPr lang="zh-CN" altLang="en-US" dirty="0"/>
              <a:t>：为什么点频连续波雷达只能测速不能测距？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测速雷达原理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连续波雷达，利用目标回波产生的多普勒频移，计算出目标的运动速度。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FBFFC9F-AE30-4802-90FE-3FC574265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292737"/>
              </p:ext>
            </p:extLst>
          </p:nvPr>
        </p:nvGraphicFramePr>
        <p:xfrm>
          <a:off x="4108958" y="1984390"/>
          <a:ext cx="1292098" cy="852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3" imgW="596880" imgH="393480" progId="Equation.DSMT4">
                  <p:embed/>
                </p:oleObj>
              </mc:Choice>
              <mc:Fallback>
                <p:oleObj name="Equation" r:id="rId3" imgW="596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08958" y="1984390"/>
                        <a:ext cx="1292098" cy="852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049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5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点频连续波体制信号处理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多普勒频率定义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B27A2E-BB2C-4022-B121-59B063398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248" y="1920960"/>
            <a:ext cx="4408332" cy="1102083"/>
          </a:xfrm>
          <a:prstGeom prst="rect">
            <a:avLst/>
          </a:prstGeom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1B77024-0F41-4267-8DB7-0D71732768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430221"/>
              </p:ext>
            </p:extLst>
          </p:nvPr>
        </p:nvGraphicFramePr>
        <p:xfrm>
          <a:off x="4413504" y="3429000"/>
          <a:ext cx="2660142" cy="84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4" imgW="723600" imgH="228600" progId="Equation.DSMT4">
                  <p:embed/>
                </p:oleObj>
              </mc:Choice>
              <mc:Fallback>
                <p:oleObj name="Equation" r:id="rId4" imgW="723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3504" y="3429000"/>
                        <a:ext cx="2660142" cy="840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170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6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点频连续波体制信号处理</a:t>
            </a:r>
            <a:endParaRPr lang="en-US" altLang="zh-CN" dirty="0"/>
          </a:p>
          <a:p>
            <a:r>
              <a:rPr lang="zh-CN" altLang="en-US" dirty="0"/>
              <a:t>多普勒频移产生原理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回波信号数学模型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令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表示回波信号的相位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18047596-8913-491B-BD19-86EDC139B8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724283"/>
              </p:ext>
            </p:extLst>
          </p:nvPr>
        </p:nvGraphicFramePr>
        <p:xfrm>
          <a:off x="2065338" y="2454275"/>
          <a:ext cx="54229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3" imgW="2158920" imgH="304560" progId="Equation.DSMT4">
                  <p:embed/>
                </p:oleObj>
              </mc:Choice>
              <mc:Fallback>
                <p:oleObj name="Equation" r:id="rId3" imgW="2158920" imgH="30456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C283E3F4-23CE-42FA-85A2-C8873D7D72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2454275"/>
                        <a:ext cx="54229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56D282DC-E19E-41D7-A99E-34A1621A83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592879"/>
              </p:ext>
            </p:extLst>
          </p:nvPr>
        </p:nvGraphicFramePr>
        <p:xfrm>
          <a:off x="2065338" y="4019805"/>
          <a:ext cx="43688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5" imgW="1739880" imgH="304560" progId="Equation.DSMT4">
                  <p:embed/>
                </p:oleObj>
              </mc:Choice>
              <mc:Fallback>
                <p:oleObj name="Equation" r:id="rId5" imgW="1739880" imgH="30456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8047596-8913-491B-BD19-86EDC139B8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4019805"/>
                        <a:ext cx="43688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3226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7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点频连续波体制信号处理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多普勒频移产生原理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回波信号的瞬时频率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3DC82F2-F98C-4CE5-A0C1-EBA443BD8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407490"/>
              </p:ext>
            </p:extLst>
          </p:nvPr>
        </p:nvGraphicFramePr>
        <p:xfrm>
          <a:off x="1343025" y="3429000"/>
          <a:ext cx="854551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Equation" r:id="rId3" imgW="3403440" imgH="393480" progId="Equation.DSMT4">
                  <p:embed/>
                </p:oleObj>
              </mc:Choice>
              <mc:Fallback>
                <p:oleObj name="Equation" r:id="rId3" imgW="3403440" imgH="39348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56D282DC-E19E-41D7-A99E-34A1621A83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3429000"/>
                        <a:ext cx="8545513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CB604DE-5044-480B-9214-27AA55063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809621"/>
              </p:ext>
            </p:extLst>
          </p:nvPr>
        </p:nvGraphicFramePr>
        <p:xfrm>
          <a:off x="3568700" y="4879975"/>
          <a:ext cx="39846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5" imgW="1587240" imgH="393480" progId="Equation.DSMT4">
                  <p:embed/>
                </p:oleObj>
              </mc:Choice>
              <mc:Fallback>
                <p:oleObj name="Equation" r:id="rId5" imgW="1587240" imgH="3934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D3DC82F2-F98C-4CE5-A0C1-EBA443BD8B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4879975"/>
                        <a:ext cx="39846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567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8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点频连续波体制信号处理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多普勒频移产生原理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其中，回波的延时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65D5647-98DA-4D73-8D61-D1DB23C5B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13725"/>
              </p:ext>
            </p:extLst>
          </p:nvPr>
        </p:nvGraphicFramePr>
        <p:xfrm>
          <a:off x="4504944" y="3106102"/>
          <a:ext cx="2035048" cy="987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3" imgW="863280" imgH="419040" progId="Equation.DSMT4">
                  <p:embed/>
                </p:oleObj>
              </mc:Choice>
              <mc:Fallback>
                <p:oleObj name="Equation" r:id="rId3" imgW="8632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4944" y="3106102"/>
                        <a:ext cx="2035048" cy="9875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B6945184-8615-44CB-ADB5-4FEBDC95B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47814"/>
              </p:ext>
            </p:extLst>
          </p:nvPr>
        </p:nvGraphicFramePr>
        <p:xfrm>
          <a:off x="2997200" y="4519613"/>
          <a:ext cx="53562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5" imgW="2133360" imgH="393480" progId="Equation.DSMT4">
                  <p:embed/>
                </p:oleObj>
              </mc:Choice>
              <mc:Fallback>
                <p:oleObj name="Equation" r:id="rId5" imgW="2133360" imgH="393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CB604DE-5044-480B-9214-27AA550637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4519613"/>
                        <a:ext cx="53562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717D429-CE59-4445-BAB7-828EB9C0F0F7}"/>
              </a:ext>
            </a:extLst>
          </p:cNvPr>
          <p:cNvSpPr txBox="1"/>
          <p:nvPr/>
        </p:nvSpPr>
        <p:spPr>
          <a:xfrm>
            <a:off x="8869680" y="4519613"/>
            <a:ext cx="2956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！！注意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r>
              <a:rPr lang="zh-CN" altLang="en-US" sz="2800" dirty="0"/>
              <a:t>这里速度都是径向速度</a:t>
            </a:r>
          </a:p>
        </p:txBody>
      </p:sp>
    </p:spTree>
    <p:extLst>
      <p:ext uri="{BB962C8B-B14F-4D97-AF65-F5344CB8AC3E}">
        <p14:creationId xmlns:p14="http://schemas.microsoft.com/office/powerpoint/2010/main" val="327324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9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点频连续波体制信号处理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多普勒频移分析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多普勒频率正比于目标速度，雷达工作频点已知的情况下，可以根据多普勒频率反演出目标速度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多普勒频率反比于雷达工作波长。当测速雷达工作频率很高的时候，雷达工作波长很短，同样的速度变化，工作频率高的雷达多普勒频率更大。所以工作频率高的测速雷达，多普勒频率更敏感于速度变化。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34203A3-DD55-4052-AAFE-FC6A96638EB8}"/>
                  </a:ext>
                </a:extLst>
              </p:cNvPr>
              <p:cNvSpPr/>
              <p:nvPr/>
            </p:nvSpPr>
            <p:spPr>
              <a:xfrm>
                <a:off x="4529328" y="2414016"/>
                <a:ext cx="1682495" cy="6127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34203A3-DD55-4052-AAFE-FC6A96638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328" y="2414016"/>
                <a:ext cx="1682495" cy="6127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21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10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调频连续波雷达信号处理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64F85DD9-5B69-4F59-BB66-506C7A62A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606686"/>
              </p:ext>
            </p:extLst>
          </p:nvPr>
        </p:nvGraphicFramePr>
        <p:xfrm>
          <a:off x="2575322" y="1519363"/>
          <a:ext cx="5040313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quation" r:id="rId3" imgW="2006280" imgH="431640" progId="Equation.DSMT4">
                  <p:embed/>
                </p:oleObj>
              </mc:Choice>
              <mc:Fallback>
                <p:oleObj name="Equation" r:id="rId3" imgW="2006280" imgH="43164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209186B0-36A2-40F9-B940-527D0F6A96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5322" y="1519363"/>
                        <a:ext cx="5040313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80B5F855-F796-46FB-8BD2-B44110B39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102" y="5592698"/>
            <a:ext cx="3079029" cy="577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accent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accent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accent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accent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accent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accent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accent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accent2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zh-CN" altLang="en-US" kern="0" dirty="0"/>
              <a:t>瞬时频率：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E5E6B280-94BC-4221-83C5-7A72BD462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433547"/>
              </p:ext>
            </p:extLst>
          </p:nvPr>
        </p:nvGraphicFramePr>
        <p:xfrm>
          <a:off x="3508865" y="5431632"/>
          <a:ext cx="43926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公式" r:id="rId5" imgW="2133360" imgH="393480" progId="Equation.3">
                  <p:embed/>
                </p:oleObj>
              </mc:Choice>
              <mc:Fallback>
                <p:oleObj name="公式" r:id="rId5" imgW="2133360" imgH="393480" progId="Equation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865" y="5431632"/>
                        <a:ext cx="439261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A26569F-7A3B-4213-B184-1536D1C1A7F5}"/>
              </a:ext>
            </a:extLst>
          </p:cNvPr>
          <p:cNvSpPr txBox="1"/>
          <p:nvPr/>
        </p:nvSpPr>
        <p:spPr>
          <a:xfrm>
            <a:off x="827413" y="1514726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数学模型</a:t>
            </a:r>
          </a:p>
        </p:txBody>
      </p:sp>
      <p:pic>
        <p:nvPicPr>
          <p:cNvPr id="11" name="Picture 7" descr="lfm1">
            <a:extLst>
              <a:ext uri="{FF2B5EF4-FFF2-40B4-BE49-F238E27FC236}">
                <a16:creationId xmlns:a16="http://schemas.microsoft.com/office/drawing/2014/main" id="{3E9527A2-CCF5-4D98-83E7-8D0003CD4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158" y="2725738"/>
            <a:ext cx="624205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C94E6A3-4EC0-4131-972C-FB5DB630C674}"/>
              </a:ext>
            </a:extLst>
          </p:cNvPr>
          <p:cNvSpPr txBox="1"/>
          <p:nvPr/>
        </p:nvSpPr>
        <p:spPr>
          <a:xfrm>
            <a:off x="792480" y="2695907"/>
            <a:ext cx="1356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时域信号</a:t>
            </a:r>
          </a:p>
        </p:txBody>
      </p:sp>
    </p:spTree>
    <p:extLst>
      <p:ext uri="{BB962C8B-B14F-4D97-AF65-F5344CB8AC3E}">
        <p14:creationId xmlns:p14="http://schemas.microsoft.com/office/powerpoint/2010/main" val="1759015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11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调频连续波雷达信号处理</a:t>
            </a:r>
            <a:endParaRPr lang="en-US" altLang="zh-CN" dirty="0"/>
          </a:p>
          <a:p>
            <a:r>
              <a:rPr lang="zh-CN" altLang="en-US" dirty="0"/>
              <a:t>参数分析：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信号带宽：</a:t>
            </a:r>
            <a:r>
              <a:rPr lang="en-US" altLang="zh-CN" dirty="0">
                <a:solidFill>
                  <a:schemeClr val="tx1"/>
                </a:solidFill>
              </a:rPr>
              <a:t>B  			</a:t>
            </a:r>
            <a:r>
              <a:rPr lang="zh-CN" altLang="en-US" dirty="0">
                <a:solidFill>
                  <a:schemeClr val="tx1"/>
                </a:solidFill>
              </a:rPr>
              <a:t>调频周期：</a:t>
            </a:r>
            <a:r>
              <a:rPr lang="en-US" altLang="zh-CN" dirty="0">
                <a:solidFill>
                  <a:schemeClr val="tx1"/>
                </a:solidFill>
              </a:rPr>
              <a:t>T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根据瞬时频率的表达式，可以得到在整个调频周期内，瞬时频率是从       线性变化到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所以参数                  ，称之为调频斜率。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D435529-A2D0-43DA-873C-E72CD5F1D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887272"/>
              </p:ext>
            </p:extLst>
          </p:nvPr>
        </p:nvGraphicFramePr>
        <p:xfrm>
          <a:off x="4014851" y="3715957"/>
          <a:ext cx="29019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Equation" r:id="rId3" imgW="1409400" imgH="253800" progId="Equation.DSMT4">
                  <p:embed/>
                </p:oleObj>
              </mc:Choice>
              <mc:Fallback>
                <p:oleObj name="Equation" r:id="rId3" imgW="1409400" imgH="25380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E5E6B280-94BC-4221-83C5-7A72BD4627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851" y="3715957"/>
                        <a:ext cx="29019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37BE482-7745-4165-BA68-3CD23E16566F}"/>
                  </a:ext>
                </a:extLst>
              </p:cNvPr>
              <p:cNvSpPr/>
              <p:nvPr/>
            </p:nvSpPr>
            <p:spPr>
              <a:xfrm>
                <a:off x="1846387" y="2927342"/>
                <a:ext cx="4403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37BE482-7745-4165-BA68-3CD23E1656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387" y="2927342"/>
                <a:ext cx="440313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B6FC907-C1B6-4F2C-834D-BA5B37F4CB13}"/>
                  </a:ext>
                </a:extLst>
              </p:cNvPr>
              <p:cNvSpPr/>
              <p:nvPr/>
            </p:nvSpPr>
            <p:spPr>
              <a:xfrm>
                <a:off x="4333807" y="2927342"/>
                <a:ext cx="9789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B6FC907-C1B6-4F2C-834D-BA5B37F4C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07" y="2927342"/>
                <a:ext cx="978922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4575D21-F203-4884-8E1B-96CB6318CA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408996"/>
              </p:ext>
            </p:extLst>
          </p:nvPr>
        </p:nvGraphicFramePr>
        <p:xfrm>
          <a:off x="2213356" y="4455760"/>
          <a:ext cx="1440888" cy="438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Equation" r:id="rId7" imgW="583920" imgH="177480" progId="Equation.DSMT4">
                  <p:embed/>
                </p:oleObj>
              </mc:Choice>
              <mc:Fallback>
                <p:oleObj name="Equation" r:id="rId7" imgW="5839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13356" y="4455760"/>
                        <a:ext cx="1440888" cy="438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8356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12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调频连续波雷达信号处理</a:t>
            </a: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297648EB-717C-41BD-864A-C71E6371A7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728165"/>
              </p:ext>
            </p:extLst>
          </p:nvPr>
        </p:nvGraphicFramePr>
        <p:xfrm>
          <a:off x="1401001" y="1657287"/>
          <a:ext cx="378777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Visio" r:id="rId3" imgW="4068775" imgH="1540154" progId="Visio.Drawing.11">
                  <p:embed/>
                </p:oleObj>
              </mc:Choice>
              <mc:Fallback>
                <p:oleObj name="Visio" r:id="rId3" imgW="4068775" imgH="1540154" progId="Visio.Drawing.11">
                  <p:embed/>
                  <p:pic>
                    <p:nvPicPr>
                      <p:cNvPr id="1677319" name="Object 7">
                        <a:extLst>
                          <a:ext uri="{FF2B5EF4-FFF2-40B4-BE49-F238E27FC236}">
                            <a16:creationId xmlns:a16="http://schemas.microsoft.com/office/drawing/2014/main" id="{766F7B89-6D0B-4734-B6A5-6731CC0897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001" y="1657287"/>
                        <a:ext cx="3787775" cy="1430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86A82D5A-F141-4051-9620-93A36CB78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678041"/>
              </p:ext>
            </p:extLst>
          </p:nvPr>
        </p:nvGraphicFramePr>
        <p:xfrm>
          <a:off x="1135888" y="2997137"/>
          <a:ext cx="3960813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Visio" r:id="rId5" imgW="4253789" imgH="1879702" progId="Visio.Drawing.11">
                  <p:embed/>
                </p:oleObj>
              </mc:Choice>
              <mc:Fallback>
                <p:oleObj name="Visio" r:id="rId5" imgW="4253789" imgH="1879702" progId="Visio.Drawing.11">
                  <p:embed/>
                  <p:pic>
                    <p:nvPicPr>
                      <p:cNvPr id="1677321" name="Object 9">
                        <a:extLst>
                          <a:ext uri="{FF2B5EF4-FFF2-40B4-BE49-F238E27FC236}">
                            <a16:creationId xmlns:a16="http://schemas.microsoft.com/office/drawing/2014/main" id="{C2DDEEC6-2CEB-4AF5-9644-6EF2DBE129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888" y="2997137"/>
                        <a:ext cx="3960813" cy="174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5E3670EC-7A7D-4B44-9307-0FF0FBE61E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728428"/>
              </p:ext>
            </p:extLst>
          </p:nvPr>
        </p:nvGraphicFramePr>
        <p:xfrm>
          <a:off x="954913" y="4638612"/>
          <a:ext cx="432117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Visio" r:id="rId7" imgW="4253789" imgH="1879702" progId="Visio.Drawing.11">
                  <p:embed/>
                </p:oleObj>
              </mc:Choice>
              <mc:Fallback>
                <p:oleObj name="Visio" r:id="rId7" imgW="4253789" imgH="1879702" progId="Visio.Drawing.11">
                  <p:embed/>
                  <p:pic>
                    <p:nvPicPr>
                      <p:cNvPr id="1677322" name="Object 10">
                        <a:extLst>
                          <a:ext uri="{FF2B5EF4-FFF2-40B4-BE49-F238E27FC236}">
                            <a16:creationId xmlns:a16="http://schemas.microsoft.com/office/drawing/2014/main" id="{A018E20E-EBB9-4199-BBAF-6C78BC05ED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913" y="4638612"/>
                        <a:ext cx="4321175" cy="190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A1889742-FEEE-4611-9459-6A68C17F0B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328370"/>
              </p:ext>
            </p:extLst>
          </p:nvPr>
        </p:nvGraphicFramePr>
        <p:xfrm>
          <a:off x="6642926" y="1998663"/>
          <a:ext cx="2160587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Equation" r:id="rId9" imgW="1282700" imgH="393700" progId="Equation.DSMT4">
                  <p:embed/>
                </p:oleObj>
              </mc:Choice>
              <mc:Fallback>
                <p:oleObj name="Equation" r:id="rId9" imgW="1282700" imgH="393700" progId="Equation.DSMT4">
                  <p:embed/>
                  <p:pic>
                    <p:nvPicPr>
                      <p:cNvPr id="1677323" name="Object 11">
                        <a:extLst>
                          <a:ext uri="{FF2B5EF4-FFF2-40B4-BE49-F238E27FC236}">
                            <a16:creationId xmlns:a16="http://schemas.microsoft.com/office/drawing/2014/main" id="{25F38632-20CB-4E00-95C0-820C458471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926" y="1998663"/>
                        <a:ext cx="2160587" cy="65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24DAFB9F-33DC-44D5-93CA-7430EF6818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318079"/>
              </p:ext>
            </p:extLst>
          </p:nvPr>
        </p:nvGraphicFramePr>
        <p:xfrm>
          <a:off x="6652451" y="2646363"/>
          <a:ext cx="1503362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Equation" r:id="rId11" imgW="837836" imgH="393529" progId="Equation.DSMT4">
                  <p:embed/>
                </p:oleObj>
              </mc:Choice>
              <mc:Fallback>
                <p:oleObj name="Equation" r:id="rId11" imgW="837836" imgH="393529" progId="Equation.DSMT4">
                  <p:embed/>
                  <p:pic>
                    <p:nvPicPr>
                      <p:cNvPr id="1677325" name="Object 13">
                        <a:extLst>
                          <a:ext uri="{FF2B5EF4-FFF2-40B4-BE49-F238E27FC236}">
                            <a16:creationId xmlns:a16="http://schemas.microsoft.com/office/drawing/2014/main" id="{01480A76-ED34-4A71-9068-2BCE96B4AD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451" y="2646363"/>
                        <a:ext cx="1503362" cy="700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5">
            <a:extLst>
              <a:ext uri="{FF2B5EF4-FFF2-40B4-BE49-F238E27FC236}">
                <a16:creationId xmlns:a16="http://schemas.microsoft.com/office/drawing/2014/main" id="{62BFED25-770E-47BA-BBF0-D16A820FA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788" y="3333751"/>
            <a:ext cx="5400675" cy="109696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FFFFCC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 algn="ctr">
                <a:solidFill>
                  <a:srgbClr val="00008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55600" indent="-355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87425" indent="-452438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322638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502025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681413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138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59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5053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5102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频率不规则的地方会影响</a:t>
            </a:r>
            <a:r>
              <a:rPr lang="en-US" altLang="zh-CN" sz="20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FFT</a:t>
            </a:r>
            <a:r>
              <a:rPr lang="zh-CN" altLang="en-US" sz="20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后的分辨率，影响测速精度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为了避免上面的情况，要求</a:t>
            </a:r>
          </a:p>
        </p:txBody>
      </p:sp>
      <p:sp>
        <p:nvSpPr>
          <p:cNvPr id="11" name="Rectangle 17">
            <a:extLst>
              <a:ext uri="{FF2B5EF4-FFF2-40B4-BE49-F238E27FC236}">
                <a16:creationId xmlns:a16="http://schemas.microsoft.com/office/drawing/2014/main" id="{C1BBEEBB-4967-43F0-AA5B-7F523A86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788" y="4518026"/>
            <a:ext cx="5219700" cy="762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FFFFCC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 algn="ctr">
                <a:solidFill>
                  <a:srgbClr val="00008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55600" indent="-355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87425" indent="-452438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322638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502025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681413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138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595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5053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5102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为了对较远目标进行测量，可以将调频时间拉长</a:t>
            </a:r>
          </a:p>
        </p:txBody>
      </p:sp>
    </p:spTree>
    <p:extLst>
      <p:ext uri="{BB962C8B-B14F-4D97-AF65-F5344CB8AC3E}">
        <p14:creationId xmlns:p14="http://schemas.microsoft.com/office/powerpoint/2010/main" val="2095762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13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回波信号数学分析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tx1"/>
                </a:solidFill>
              </a:rPr>
              <a:t>发射信号相位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tx1"/>
                </a:solidFill>
              </a:rPr>
              <a:t>接收信号相位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91E40E6-985A-4CA8-AB41-591125707B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452541"/>
              </p:ext>
            </p:extLst>
          </p:nvPr>
        </p:nvGraphicFramePr>
        <p:xfrm>
          <a:off x="3438462" y="2504281"/>
          <a:ext cx="398621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Equation" r:id="rId3" imgW="1587240" imgH="393480" progId="Equation.DSMT4">
                  <p:embed/>
                </p:oleObj>
              </mc:Choice>
              <mc:Fallback>
                <p:oleObj name="Equation" r:id="rId3" imgW="1587240" imgH="39348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56D282DC-E19E-41D7-A99E-34A1621A83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462" y="2504281"/>
                        <a:ext cx="3986212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A585953-9DAF-4A3D-AFFE-8E2BC42F8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131950"/>
              </p:ext>
            </p:extLst>
          </p:nvPr>
        </p:nvGraphicFramePr>
        <p:xfrm>
          <a:off x="5557043" y="1134269"/>
          <a:ext cx="5040313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Equation" r:id="rId5" imgW="2006280" imgH="431640" progId="Equation.DSMT4">
                  <p:embed/>
                </p:oleObj>
              </mc:Choice>
              <mc:Fallback>
                <p:oleObj name="Equation" r:id="rId5" imgW="2006280" imgH="4316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64F85DD9-5B69-4F59-BB66-506C7A62A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043" y="1134269"/>
                        <a:ext cx="5040313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FED7E6B7-3D86-4B11-9F14-2D43092C2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930724"/>
              </p:ext>
            </p:extLst>
          </p:nvPr>
        </p:nvGraphicFramePr>
        <p:xfrm>
          <a:off x="2568067" y="4422775"/>
          <a:ext cx="6408738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Equation" r:id="rId7" imgW="2552400" imgH="431640" progId="Equation.DSMT4">
                  <p:embed/>
                </p:oleObj>
              </mc:Choice>
              <mc:Fallback>
                <p:oleObj name="Equation" r:id="rId7" imgW="2552400" imgH="4316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991E40E6-985A-4CA8-AB41-591125707B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067" y="4422775"/>
                        <a:ext cx="6408738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0088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14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回波信号数学分析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接收信号与发射本振混频后相位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差频信号频率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0FA039A-7324-42AD-96C9-B613FA964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655721"/>
              </p:ext>
            </p:extLst>
          </p:nvPr>
        </p:nvGraphicFramePr>
        <p:xfrm>
          <a:off x="3566922" y="2268347"/>
          <a:ext cx="35083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991E40E6-985A-4CA8-AB41-591125707B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6922" y="2268347"/>
                        <a:ext cx="350837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933A43-D97A-490C-B922-92AE287DD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693227"/>
              </p:ext>
            </p:extLst>
          </p:nvPr>
        </p:nvGraphicFramePr>
        <p:xfrm>
          <a:off x="2881313" y="2873375"/>
          <a:ext cx="487997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Equation" r:id="rId5" imgW="1942920" imgH="431640" progId="Equation.DSMT4">
                  <p:embed/>
                </p:oleObj>
              </mc:Choice>
              <mc:Fallback>
                <p:oleObj name="Equation" r:id="rId5" imgW="1942920" imgH="4316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A0FA039A-7324-42AD-96C9-B613FA9643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2873375"/>
                        <a:ext cx="4879975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6C41B6C4-56CB-4499-B796-33002E6D7B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310474"/>
              </p:ext>
            </p:extLst>
          </p:nvPr>
        </p:nvGraphicFramePr>
        <p:xfrm>
          <a:off x="3737229" y="4719639"/>
          <a:ext cx="360521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Equation" r:id="rId7" imgW="1434960" imgH="393480" progId="Equation.DSMT4">
                  <p:embed/>
                </p:oleObj>
              </mc:Choice>
              <mc:Fallback>
                <p:oleObj name="Equation" r:id="rId7" imgW="1434960" imgH="393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B933A43-D97A-490C-B922-92AE287DD7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7229" y="4719639"/>
                        <a:ext cx="3605213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7716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15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调频连续波雷达信号处理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A68E412-4FCB-4CA9-87CC-15D62C72A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34978"/>
              </p:ext>
            </p:extLst>
          </p:nvPr>
        </p:nvGraphicFramePr>
        <p:xfrm>
          <a:off x="2574925" y="1784414"/>
          <a:ext cx="3521075" cy="153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Visio" r:id="rId3" imgW="4235806" imgH="1845869" progId="Visio.Drawing.11">
                  <p:embed/>
                </p:oleObj>
              </mc:Choice>
              <mc:Fallback>
                <p:oleObj name="Visio" r:id="rId3" imgW="4235806" imgH="1845869" progId="Visio.Drawing.11">
                  <p:embed/>
                  <p:pic>
                    <p:nvPicPr>
                      <p:cNvPr id="1679365" name="Object 5">
                        <a:extLst>
                          <a:ext uri="{FF2B5EF4-FFF2-40B4-BE49-F238E27FC236}">
                            <a16:creationId xmlns:a16="http://schemas.microsoft.com/office/drawing/2014/main" id="{EDC6D7B2-49B2-43F9-A511-195D93BFA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1784414"/>
                        <a:ext cx="3521075" cy="153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D7B1511C-9F38-4B60-9360-CBF910855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70093"/>
              </p:ext>
            </p:extLst>
          </p:nvPr>
        </p:nvGraphicFramePr>
        <p:xfrm>
          <a:off x="6315075" y="1557401"/>
          <a:ext cx="3521075" cy="227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6" name="Visio" r:id="rId5" imgW="4235806" imgH="2740457" progId="Visio.Drawing.11">
                  <p:embed/>
                </p:oleObj>
              </mc:Choice>
              <mc:Fallback>
                <p:oleObj name="Visio" r:id="rId5" imgW="4235806" imgH="2740457" progId="Visio.Drawing.11">
                  <p:embed/>
                  <p:pic>
                    <p:nvPicPr>
                      <p:cNvPr id="1679368" name="Object 8">
                        <a:extLst>
                          <a:ext uri="{FF2B5EF4-FFF2-40B4-BE49-F238E27FC236}">
                            <a16:creationId xmlns:a16="http://schemas.microsoft.com/office/drawing/2014/main" id="{A59E72E5-6D6D-4A85-B9F3-C47F8329B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075" y="1557401"/>
                        <a:ext cx="3521075" cy="227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228D72E8-8C6A-4175-AA2D-02E3866ED4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816777"/>
              </p:ext>
            </p:extLst>
          </p:nvPr>
        </p:nvGraphicFramePr>
        <p:xfrm>
          <a:off x="2138363" y="3945001"/>
          <a:ext cx="4618037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Visio" r:id="rId7" imgW="4258361" imgH="1490777" progId="Visio.Drawing.11">
                  <p:embed/>
                </p:oleObj>
              </mc:Choice>
              <mc:Fallback>
                <p:oleObj name="Visio" r:id="rId7" imgW="4258361" imgH="1490777" progId="Visio.Drawing.11">
                  <p:embed/>
                  <p:pic>
                    <p:nvPicPr>
                      <p:cNvPr id="1679369" name="Object 9">
                        <a:extLst>
                          <a:ext uri="{FF2B5EF4-FFF2-40B4-BE49-F238E27FC236}">
                            <a16:creationId xmlns:a16="http://schemas.microsoft.com/office/drawing/2014/main" id="{AC37473D-73D9-4439-9A29-B2DC5A6D43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3945001"/>
                        <a:ext cx="4618037" cy="161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D84E75F7-0A1D-4354-96CE-FB9D6B251E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884598"/>
              </p:ext>
            </p:extLst>
          </p:nvPr>
        </p:nvGraphicFramePr>
        <p:xfrm>
          <a:off x="7970838" y="4059301"/>
          <a:ext cx="1296987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Equation" r:id="rId9" imgW="787400" imgH="457200" progId="Equation.DSMT4">
                  <p:embed/>
                </p:oleObj>
              </mc:Choice>
              <mc:Fallback>
                <p:oleObj name="Equation" r:id="rId9" imgW="787400" imgH="457200" progId="Equation.DSMT4">
                  <p:embed/>
                  <p:pic>
                    <p:nvPicPr>
                      <p:cNvPr id="1679370" name="Object 10">
                        <a:extLst>
                          <a:ext uri="{FF2B5EF4-FFF2-40B4-BE49-F238E27FC236}">
                            <a16:creationId xmlns:a16="http://schemas.microsoft.com/office/drawing/2014/main" id="{B3F8B0A3-7266-47B1-A971-1C03F9435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0838" y="4059301"/>
                        <a:ext cx="1296987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C9527AD8-A092-4F60-B98C-C6FAC2B0FF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030883"/>
              </p:ext>
            </p:extLst>
          </p:nvPr>
        </p:nvGraphicFramePr>
        <p:xfrm>
          <a:off x="7970838" y="5132451"/>
          <a:ext cx="1296987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name="Equation" r:id="rId11" imgW="787320" imgH="812520" progId="Equation.DSMT4">
                  <p:embed/>
                </p:oleObj>
              </mc:Choice>
              <mc:Fallback>
                <p:oleObj name="Equation" r:id="rId11" imgW="787320" imgH="812520" progId="Equation.DSMT4">
                  <p:embed/>
                  <p:pic>
                    <p:nvPicPr>
                      <p:cNvPr id="1679372" name="Object 12">
                        <a:extLst>
                          <a:ext uri="{FF2B5EF4-FFF2-40B4-BE49-F238E27FC236}">
                            <a16:creationId xmlns:a16="http://schemas.microsoft.com/office/drawing/2014/main" id="{71D66946-BEA7-4EF2-8D12-584902C14B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0838" y="5132451"/>
                        <a:ext cx="1296987" cy="1331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13">
            <a:extLst>
              <a:ext uri="{FF2B5EF4-FFF2-40B4-BE49-F238E27FC236}">
                <a16:creationId xmlns:a16="http://schemas.microsoft.com/office/drawing/2014/main" id="{676D97C7-F4CC-4C35-8083-6D22746F7639}"/>
              </a:ext>
            </a:extLst>
          </p:cNvPr>
          <p:cNvSpPr>
            <a:spLocks/>
          </p:cNvSpPr>
          <p:nvPr/>
        </p:nvSpPr>
        <p:spPr bwMode="auto">
          <a:xfrm>
            <a:off x="7827963" y="4086289"/>
            <a:ext cx="142875" cy="722312"/>
          </a:xfrm>
          <a:prstGeom prst="leftBrace">
            <a:avLst>
              <a:gd name="adj1" fmla="val 4213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FCD3F46E-D357-43D3-9F64-421B21F4EBCF}"/>
              </a:ext>
            </a:extLst>
          </p:cNvPr>
          <p:cNvSpPr>
            <a:spLocks/>
          </p:cNvSpPr>
          <p:nvPr/>
        </p:nvSpPr>
        <p:spPr bwMode="auto">
          <a:xfrm>
            <a:off x="7754938" y="5383276"/>
            <a:ext cx="144462" cy="865188"/>
          </a:xfrm>
          <a:prstGeom prst="leftBrace">
            <a:avLst>
              <a:gd name="adj1" fmla="val 49909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137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16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编程练习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利用</a:t>
            </a:r>
            <a:r>
              <a:rPr lang="en-US" altLang="zh-CN" dirty="0" err="1"/>
              <a:t>Matlab</a:t>
            </a:r>
            <a:r>
              <a:rPr lang="zh-CN" altLang="en-US" dirty="0"/>
              <a:t>完成点频连续波发射，接收，混频的仿真，并且利用频谱分析工具</a:t>
            </a:r>
            <a:r>
              <a:rPr lang="en-US" altLang="zh-CN" dirty="0"/>
              <a:t>FFT</a:t>
            </a:r>
            <a:r>
              <a:rPr lang="zh-CN" altLang="en-US" dirty="0"/>
              <a:t>，解算出速度。</a:t>
            </a:r>
            <a:endParaRPr lang="en-US" altLang="zh-CN" dirty="0"/>
          </a:p>
          <a:p>
            <a:r>
              <a:rPr lang="zh-CN" altLang="en-US" dirty="0"/>
              <a:t>参数：工作频点</a:t>
            </a:r>
            <a:r>
              <a:rPr lang="en-US" altLang="zh-CN" dirty="0"/>
              <a:t>30MHz</a:t>
            </a:r>
            <a:r>
              <a:rPr lang="zh-CN" altLang="en-US" dirty="0"/>
              <a:t>，目标以径向速度</a:t>
            </a:r>
            <a:r>
              <a:rPr lang="en-US" altLang="zh-CN" dirty="0"/>
              <a:t>20m/s</a:t>
            </a:r>
            <a:r>
              <a:rPr lang="zh-CN" altLang="en-US" dirty="0">
                <a:solidFill>
                  <a:srgbClr val="FF0000"/>
                </a:solidFill>
              </a:rPr>
              <a:t>接近</a:t>
            </a:r>
            <a:r>
              <a:rPr lang="zh-CN" altLang="en-US" dirty="0"/>
              <a:t>雷达。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利用</a:t>
            </a:r>
            <a:r>
              <a:rPr lang="en-US" altLang="zh-CN" dirty="0" err="1"/>
              <a:t>Matlab</a:t>
            </a:r>
            <a:r>
              <a:rPr lang="zh-CN" altLang="en-US" dirty="0"/>
              <a:t>完成一个频率调制周期内</a:t>
            </a:r>
            <a:r>
              <a:rPr lang="en-US" altLang="zh-CN" dirty="0"/>
              <a:t>LFMCW</a:t>
            </a:r>
            <a:r>
              <a:rPr lang="zh-CN" altLang="en-US" dirty="0"/>
              <a:t>仿真。建立发射信号、接收信号，并进行数字下混频，利用频谱分析工具，解算出目标距离。</a:t>
            </a:r>
            <a:endParaRPr lang="en-US" altLang="zh-CN" dirty="0"/>
          </a:p>
          <a:p>
            <a:r>
              <a:rPr lang="zh-CN" altLang="en-US" dirty="0"/>
              <a:t>参数：工作频点</a:t>
            </a:r>
            <a:r>
              <a:rPr lang="en-US" altLang="zh-CN" dirty="0"/>
              <a:t>10GHz</a:t>
            </a:r>
            <a:r>
              <a:rPr lang="zh-CN" altLang="en-US" dirty="0"/>
              <a:t>，调频带宽</a:t>
            </a:r>
            <a:r>
              <a:rPr lang="en-US" altLang="zh-CN" dirty="0"/>
              <a:t>20MHz</a:t>
            </a:r>
            <a:r>
              <a:rPr lang="zh-CN" altLang="en-US" dirty="0"/>
              <a:t>，调频周期</a:t>
            </a:r>
            <a:r>
              <a:rPr lang="en-US" altLang="zh-CN" dirty="0"/>
              <a:t>20us</a:t>
            </a:r>
            <a:r>
              <a:rPr lang="zh-CN" altLang="en-US" dirty="0"/>
              <a:t>，目标距离</a:t>
            </a:r>
            <a:r>
              <a:rPr lang="en-US" altLang="zh-CN" dirty="0"/>
              <a:t>150m</a:t>
            </a:r>
            <a:r>
              <a:rPr lang="zh-CN" altLang="en-US" dirty="0"/>
              <a:t>。（采样率可以设为</a:t>
            </a:r>
            <a:r>
              <a:rPr lang="en-US" altLang="zh-CN" dirty="0"/>
              <a:t>60MHz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38842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17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调频连续波雷达信号处理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仿真注意点：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采样率设置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采样时长设置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信号的复数表示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数字下混频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5.FFT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IFFT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6.FFTshift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1071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雷达信号处理基础</a:t>
            </a:r>
            <a:r>
              <a:rPr lang="en-US" altLang="zh-CN" dirty="0"/>
              <a:t>-</a:t>
            </a:r>
            <a:r>
              <a:rPr lang="zh-CN" altLang="en-US" dirty="0"/>
              <a:t>连续波雷达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A3FD71D-8973-473B-A2B8-3FD056A11D14}" type="slidenum">
              <a:rPr lang="zh-CN" altLang="en-US">
                <a:solidFill>
                  <a:srgbClr val="000000"/>
                </a:solidFill>
              </a:rPr>
              <a:pPr eaLnBrk="1" hangingPunct="1"/>
              <a:t>18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52804-3302-4E64-9A12-9DE5DF6E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调频连续波雷达信号处理</a:t>
            </a:r>
          </a:p>
        </p:txBody>
      </p:sp>
    </p:spTree>
    <p:extLst>
      <p:ext uri="{BB962C8B-B14F-4D97-AF65-F5344CB8AC3E}">
        <p14:creationId xmlns:p14="http://schemas.microsoft.com/office/powerpoint/2010/main" val="2082733294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545</Words>
  <Application>Microsoft Office PowerPoint</Application>
  <PresentationFormat>宽屏</PresentationFormat>
  <Paragraphs>146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黑体</vt:lpstr>
      <vt:lpstr>华文新魏</vt:lpstr>
      <vt:lpstr>楷体_GB2312</vt:lpstr>
      <vt:lpstr>宋体</vt:lpstr>
      <vt:lpstr>Cambria Math</vt:lpstr>
      <vt:lpstr>Times New Roman</vt:lpstr>
      <vt:lpstr>Wingdings</vt:lpstr>
      <vt:lpstr>默认设计模板</vt:lpstr>
      <vt:lpstr>Image</vt:lpstr>
      <vt:lpstr>Equation</vt:lpstr>
      <vt:lpstr>公式</vt:lpstr>
      <vt:lpstr>Visio</vt:lpstr>
      <vt:lpstr>PowerPoint 演示文稿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  <vt:lpstr>雷达信号处理基础-连续波雷达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bryan</dc:creator>
  <cp:lastModifiedBy>bryan</cp:lastModifiedBy>
  <cp:revision>19</cp:revision>
  <dcterms:created xsi:type="dcterms:W3CDTF">2018-10-06T02:26:34Z</dcterms:created>
  <dcterms:modified xsi:type="dcterms:W3CDTF">2018-10-31T01:26:13Z</dcterms:modified>
</cp:coreProperties>
</file>